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9" r:id="rId5"/>
  </p:sldMasterIdLst>
  <p:notesMasterIdLst>
    <p:notesMasterId r:id="rId18"/>
  </p:notesMasterIdLst>
  <p:sldIdLst>
    <p:sldId id="851" r:id="rId6"/>
    <p:sldId id="853" r:id="rId7"/>
    <p:sldId id="848" r:id="rId8"/>
    <p:sldId id="914" r:id="rId9"/>
    <p:sldId id="954" r:id="rId10"/>
    <p:sldId id="948" r:id="rId11"/>
    <p:sldId id="370" r:id="rId12"/>
    <p:sldId id="371" r:id="rId13"/>
    <p:sldId id="359" r:id="rId14"/>
    <p:sldId id="953" r:id="rId15"/>
    <p:sldId id="933" r:id="rId16"/>
    <p:sldId id="902" r:id="rId17"/>
  </p:sldIdLst>
  <p:sldSz cx="12192000" cy="6858000"/>
  <p:notesSz cx="7099300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35A"/>
    <a:srgbClr val="FF054C"/>
    <a:srgbClr val="EDECEC"/>
    <a:srgbClr val="FF2A65"/>
    <a:srgbClr val="C8C8C8"/>
    <a:srgbClr val="050704"/>
    <a:srgbClr val="262626"/>
    <a:srgbClr val="A6A6A6"/>
    <a:srgbClr val="696D6E"/>
    <a:srgbClr val="616D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5F2C36-E76B-425F-B2A6-EEFAD76D92EC}" v="10" dt="2020-02-14T18:48:41.5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3" autoAdjust="0"/>
    <p:restoredTop sz="86443" autoAdjust="0"/>
  </p:normalViewPr>
  <p:slideViewPr>
    <p:cSldViewPr>
      <p:cViewPr>
        <p:scale>
          <a:sx n="66" d="100"/>
          <a:sy n="66" d="100"/>
        </p:scale>
        <p:origin x="1162" y="1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1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FBA73DA2-9B64-4FED-9C82-BFBEF80F78F3}" type="datetimeFigureOut">
              <a:rPr lang="pt-BR" smtClean="0"/>
              <a:pPr/>
              <a:t>26/02/2023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41CFA72-B01C-402E-8568-ECC646405A4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4469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261" name="Shape 26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2650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C55BD2-FBEE-2B43-BCA3-95F743A4C72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2078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1413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C55BD2-FBEE-2B43-BCA3-95F743A4C72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1219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61" name="Shape 26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6097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87725-432B-491B-984C-07014E8D6623}" type="datetimeFigureOut">
              <a:rPr lang="pt-BR" smtClean="0"/>
              <a:pPr/>
              <a:t>26/02/2023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537F0-4084-4098-B9EB-4E9809262FE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19457" name="Picture 1" descr="C:\Users\cl0972\Downloads\1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7" name="Retângulo 6"/>
          <p:cNvSpPr/>
          <p:nvPr userDrawn="1"/>
        </p:nvSpPr>
        <p:spPr>
          <a:xfrm>
            <a:off x="2159563" y="2924944"/>
            <a:ext cx="1728192" cy="9361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9" name="Picture 1" descr="C:\Users\cl0972\Downloads\4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188640"/>
            <a:ext cx="9889099" cy="648072"/>
          </a:xfrm>
        </p:spPr>
        <p:txBody>
          <a:bodyPr>
            <a:normAutofit/>
          </a:bodyPr>
          <a:lstStyle>
            <a:lvl1pPr algn="l">
              <a:defRPr sz="2800" b="1">
                <a:solidFill>
                  <a:schemeClr val="bg1"/>
                </a:solidFill>
                <a:latin typeface="Arial Narrow" pitchFamily="34" charset="0"/>
              </a:defRPr>
            </a:lvl1pPr>
          </a:lstStyle>
          <a:p>
            <a:r>
              <a:rPr lang="pt-BR" dirty="0"/>
              <a:t>AAA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35360" y="908720"/>
            <a:ext cx="11521280" cy="5400600"/>
          </a:xfrm>
        </p:spPr>
        <p:txBody>
          <a:bodyPr>
            <a:normAutofit/>
          </a:bodyPr>
          <a:lstStyle>
            <a:lvl1pPr>
              <a:defRPr sz="2400">
                <a:latin typeface="Arial Narrow" pitchFamily="34" charset="0"/>
              </a:defRPr>
            </a:lvl1pPr>
            <a:lvl2pPr>
              <a:defRPr sz="2000">
                <a:latin typeface="Arial Narrow" pitchFamily="34" charset="0"/>
              </a:defRPr>
            </a:lvl2pPr>
            <a:lvl3pPr>
              <a:defRPr sz="1800">
                <a:latin typeface="Arial Narrow" pitchFamily="34" charset="0"/>
              </a:defRPr>
            </a:lvl3pPr>
            <a:lvl4pPr>
              <a:defRPr sz="1600">
                <a:latin typeface="Arial Narrow" pitchFamily="34" charset="0"/>
              </a:defRPr>
            </a:lvl4pPr>
            <a:lvl5pPr>
              <a:defRPr sz="1600">
                <a:latin typeface="Arial Narrow" pitchFamily="34" charset="0"/>
              </a:defRPr>
            </a:lvl5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C9537F0-4084-4098-B9EB-4E9809262FE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 l="13286" t="26111" r="14968" b="12748"/>
          <a:stretch>
            <a:fillRect/>
          </a:stretch>
        </p:blipFill>
        <p:spPr bwMode="auto">
          <a:xfrm>
            <a:off x="143339" y="6381328"/>
            <a:ext cx="1920213" cy="47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5" name="Picture 1" descr="C:\Users\cl0972\Downloads\3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63553" y="2636913"/>
            <a:ext cx="8160908" cy="1362075"/>
          </a:xfrm>
        </p:spPr>
        <p:txBody>
          <a:bodyPr anchor="t"/>
          <a:lstStyle>
            <a:lvl1pPr algn="ctr">
              <a:defRPr sz="4000" b="1" cap="all">
                <a:solidFill>
                  <a:srgbClr val="C00000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C9537F0-4084-4098-B9EB-4E9809262FE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37218" name="AutoShape 2" descr="https://pod51008.outlook.com/owa/service.svc/s/GetFileAttachment?id=AAMkADI1MWRlMGM1LTU5ZjktNDFhZC04ZTNkLThlYTZhNjM0NDE5MABGAAAAAAAETxcuLbvDRp54NeGoF8yCBwA1kZ4xIJ%2FsRqsigYpw%2BnKDAmaUsC%2F2AACy%2B%2FBMtjjESZmQpSltrJGzAAEyZhE2AAABEgAQAEUNDvE7VPZMuDxaizr8cDw%3D&amp;isImagePreview=True&amp;X-OWA-CANARY=rizF-HPQ0ES4klKPAK6x5pkMWI64_9EISMINWTsFssZyc23drLD5qs2ZL7zmc1IXR3iQsal_jOo."/>
          <p:cNvSpPr>
            <a:spLocks noChangeAspect="1" noChangeArrowheads="1"/>
          </p:cNvSpPr>
          <p:nvPr userDrawn="1"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sz="1800"/>
          </a:p>
        </p:txBody>
      </p:sp>
      <p:sp>
        <p:nvSpPr>
          <p:cNvPr id="3" name="Retângulo 2"/>
          <p:cNvSpPr/>
          <p:nvPr userDrawn="1"/>
        </p:nvSpPr>
        <p:spPr>
          <a:xfrm>
            <a:off x="207434" y="160338"/>
            <a:ext cx="1664097" cy="8923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 l="13286" t="26111" r="14968" b="12748"/>
          <a:stretch>
            <a:fillRect/>
          </a:stretch>
        </p:blipFill>
        <p:spPr bwMode="auto">
          <a:xfrm>
            <a:off x="143339" y="6381328"/>
            <a:ext cx="1920213" cy="47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60400" y="1600203"/>
            <a:ext cx="58420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705600" y="1600203"/>
            <a:ext cx="58420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87725-432B-491B-984C-07014E8D6623}" type="datetimeFigureOut">
              <a:rPr lang="pt-BR" smtClean="0"/>
              <a:pPr/>
              <a:t>26/02/2023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537F0-4084-4098-B9EB-4E9809262FE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87725-432B-491B-984C-07014E8D6623}" type="datetimeFigureOut">
              <a:rPr lang="pt-BR" smtClean="0"/>
              <a:pPr/>
              <a:t>26/02/2023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537F0-4084-4098-B9EB-4E9809262FE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87725-432B-491B-984C-07014E8D6623}" type="datetimeFigureOut">
              <a:rPr lang="pt-BR" smtClean="0"/>
              <a:pPr/>
              <a:t>26/02/2023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537F0-4084-4098-B9EB-4E9809262FE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C:\Users\cl0972\Downloads\4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6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188640"/>
            <a:ext cx="9889099" cy="648072"/>
          </a:xfrm>
        </p:spPr>
        <p:txBody>
          <a:bodyPr>
            <a:normAutofit/>
          </a:bodyPr>
          <a:lstStyle>
            <a:lvl1pPr algn="l">
              <a:defRPr sz="2800" b="1">
                <a:solidFill>
                  <a:schemeClr val="bg1"/>
                </a:solidFill>
                <a:latin typeface="Arial Narrow" pitchFamily="34" charset="0"/>
              </a:defRPr>
            </a:lvl1pPr>
          </a:lstStyle>
          <a:p>
            <a:r>
              <a:rPr lang="pt-BR" dirty="0"/>
              <a:t>AAA</a:t>
            </a:r>
          </a:p>
        </p:txBody>
      </p:sp>
      <p:sp>
        <p:nvSpPr>
          <p:cNvPr id="7" name="Espaço Reservado para Conteúdo 2"/>
          <p:cNvSpPr>
            <a:spLocks noGrp="1"/>
          </p:cNvSpPr>
          <p:nvPr>
            <p:ph idx="1"/>
          </p:nvPr>
        </p:nvSpPr>
        <p:spPr>
          <a:xfrm>
            <a:off x="335360" y="908720"/>
            <a:ext cx="11521280" cy="5400600"/>
          </a:xfrm>
        </p:spPr>
        <p:txBody>
          <a:bodyPr>
            <a:normAutofit/>
          </a:bodyPr>
          <a:lstStyle>
            <a:lvl1pPr>
              <a:defRPr sz="2400">
                <a:latin typeface="Arial Narrow" pitchFamily="34" charset="0"/>
              </a:defRPr>
            </a:lvl1pPr>
            <a:lvl2pPr>
              <a:defRPr sz="2000">
                <a:latin typeface="Arial Narrow" pitchFamily="34" charset="0"/>
              </a:defRPr>
            </a:lvl2pPr>
            <a:lvl3pPr>
              <a:defRPr sz="1800">
                <a:latin typeface="Arial Narrow" pitchFamily="34" charset="0"/>
              </a:defRPr>
            </a:lvl3pPr>
            <a:lvl4pPr>
              <a:defRPr sz="1600">
                <a:latin typeface="Arial Narrow" pitchFamily="34" charset="0"/>
              </a:defRPr>
            </a:lvl4pPr>
            <a:lvl5pPr>
              <a:defRPr sz="1600">
                <a:latin typeface="Arial Narrow" pitchFamily="34" charset="0"/>
              </a:defRPr>
            </a:lvl5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9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10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C9537F0-4084-4098-B9EB-4E9809262FE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11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 l="13286" t="26111" r="14968" b="12748"/>
          <a:stretch>
            <a:fillRect/>
          </a:stretch>
        </p:blipFill>
        <p:spPr bwMode="auto">
          <a:xfrm>
            <a:off x="143339" y="6381328"/>
            <a:ext cx="1920213" cy="47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5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87725-432B-491B-984C-07014E8D6623}" type="datetimeFigureOut">
              <a:rPr lang="pt-BR" smtClean="0"/>
              <a:pPr/>
              <a:t>26/02/2023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537F0-4084-4098-B9EB-4E9809262FE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87725-432B-491B-984C-07014E8D6623}" type="datetimeFigureOut">
              <a:rPr lang="pt-BR" smtClean="0"/>
              <a:pPr/>
              <a:t>26/02/2023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537F0-4084-4098-B9EB-4E9809262FE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87725-432B-491B-984C-07014E8D6623}" type="datetimeFigureOut">
              <a:rPr lang="pt-BR" smtClean="0"/>
              <a:pPr/>
              <a:t>26/02/2023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537F0-4084-4098-B9EB-4E9809262FE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575800" y="274641"/>
            <a:ext cx="29718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60401" y="274641"/>
            <a:ext cx="87122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87725-432B-491B-984C-07014E8D6623}" type="datetimeFigureOut">
              <a:rPr lang="pt-BR" smtClean="0"/>
              <a:pPr/>
              <a:t>26/02/2023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537F0-4084-4098-B9EB-4E9809262FE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+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454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4F61D-7EF4-0745-B377-F3337DE9D0AA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D8BF6-02A1-BA48-ACE2-D259C39F68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8350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uads Escuro MBA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739693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3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8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789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437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9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64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5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554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98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16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417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87725-432B-491B-984C-07014E8D6623}" type="datetimeFigureOut">
              <a:rPr lang="pt-BR" smtClean="0"/>
              <a:pPr/>
              <a:t>26/02/2023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9537F0-4084-4098-B9EB-4E9809262FE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8" r:id="rId12"/>
    <p:sldLayoutId id="2147483681" r:id="rId13"/>
    <p:sldLayoutId id="2147483682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83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8.emf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tiff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8.emf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" y="132"/>
            <a:ext cx="12187091" cy="6857736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5"/>
          <a:srcRect r="51438"/>
          <a:stretch/>
        </p:blipFill>
        <p:spPr>
          <a:xfrm>
            <a:off x="4619836" y="2924944"/>
            <a:ext cx="2952328" cy="125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507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C197D917-2E2A-47D4-9B01-848FB4A24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" y="132"/>
            <a:ext cx="12187091" cy="6857736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</p:pic>
      <p:sp>
        <p:nvSpPr>
          <p:cNvPr id="8" name="TextBox 7"/>
          <p:cNvSpPr txBox="1"/>
          <p:nvPr/>
        </p:nvSpPr>
        <p:spPr>
          <a:xfrm>
            <a:off x="7320137" y="2780928"/>
            <a:ext cx="2495942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570"/>
            <a:r>
              <a:rPr lang="pt-BR" sz="2667" dirty="0">
                <a:solidFill>
                  <a:srgbClr val="EDECEC"/>
                </a:solidFill>
                <a:latin typeface="Gotham HTF Book" pitchFamily="50" charset="0"/>
                <a:cs typeface="Gotham HTF Bold"/>
              </a:rPr>
              <a:t>AULA  0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20137" y="3284984"/>
            <a:ext cx="2495944" cy="45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570">
              <a:lnSpc>
                <a:spcPct val="170000"/>
              </a:lnSpc>
              <a:buClr>
                <a:srgbClr val="ED145B"/>
              </a:buClr>
            </a:pPr>
            <a:r>
              <a:rPr lang="pt-BR" sz="1600" b="1" dirty="0">
                <a:solidFill>
                  <a:srgbClr val="EDECEC"/>
                </a:solidFill>
                <a:latin typeface="Gotham HTF Light" pitchFamily="50" charset="0"/>
                <a:cs typeface="Roboto Light"/>
              </a:rPr>
              <a:t>Graduação Presencial</a:t>
            </a:r>
          </a:p>
        </p:txBody>
      </p:sp>
      <p:cxnSp>
        <p:nvCxnSpPr>
          <p:cNvPr id="7" name="Straight Connector 23">
            <a:extLst>
              <a:ext uri="{FF2B5EF4-FFF2-40B4-BE49-F238E27FC236}">
                <a16:creationId xmlns:a16="http://schemas.microsoft.com/office/drawing/2014/main" id="{25D630FB-B947-DA41-A3E4-254A9E20E360}"/>
              </a:ext>
            </a:extLst>
          </p:cNvPr>
          <p:cNvCxnSpPr>
            <a:cxnSpLocks/>
          </p:cNvCxnSpPr>
          <p:nvPr/>
        </p:nvCxnSpPr>
        <p:spPr>
          <a:xfrm>
            <a:off x="7392144" y="3356992"/>
            <a:ext cx="2256195" cy="0"/>
          </a:xfrm>
          <a:prstGeom prst="line">
            <a:avLst/>
          </a:prstGeom>
          <a:ln w="15875">
            <a:solidFill>
              <a:srgbClr val="ED14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2855640" y="2917050"/>
            <a:ext cx="3044419" cy="9131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C2C5B9B-29EB-4B6E-8BF8-18BCDDCD2511}"/>
              </a:ext>
            </a:extLst>
          </p:cNvPr>
          <p:cNvSpPr/>
          <p:nvPr/>
        </p:nvSpPr>
        <p:spPr>
          <a:xfrm>
            <a:off x="2567608" y="4199967"/>
            <a:ext cx="7440158" cy="59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570">
              <a:lnSpc>
                <a:spcPct val="170000"/>
              </a:lnSpc>
              <a:buClr>
                <a:srgbClr val="ED145B"/>
              </a:buClr>
            </a:pPr>
            <a:r>
              <a:rPr lang="en-US" sz="2200" dirty="0">
                <a:solidFill>
                  <a:srgbClr val="FF2A65"/>
                </a:solidFill>
                <a:latin typeface="Biome" panose="020B0502040204020203" pitchFamily="34" charset="0"/>
                <a:cs typeface="Biome" panose="020B0502040204020203" pitchFamily="34" charset="0"/>
              </a:rPr>
              <a:t>Welcome to the next evolution in higher education.</a:t>
            </a:r>
            <a:endParaRPr lang="pt-BR" sz="2200" dirty="0">
              <a:solidFill>
                <a:srgbClr val="FF2A65"/>
              </a:solidFill>
              <a:latin typeface="Biome" panose="020B0502040204020203" pitchFamily="34" charset="0"/>
              <a:cs typeface="Biome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907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137954" y="1212739"/>
            <a:ext cx="2488351" cy="21802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181" y="3908824"/>
            <a:ext cx="2725336" cy="1801092"/>
          </a:xfrm>
          <a:prstGeom prst="rect">
            <a:avLst/>
          </a:prstGeom>
        </p:spPr>
      </p:pic>
      <p:sp>
        <p:nvSpPr>
          <p:cNvPr id="11" name="CaixaDeTexto 3"/>
          <p:cNvSpPr txBox="1"/>
          <p:nvPr/>
        </p:nvSpPr>
        <p:spPr>
          <a:xfrm>
            <a:off x="2765367" y="2852936"/>
            <a:ext cx="66612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pt-BR" sz="5400" kern="1600" cap="all" dirty="0">
                <a:solidFill>
                  <a:srgbClr val="A2B6C1"/>
                </a:solidFill>
                <a:latin typeface="Gotham HTF Light" pitchFamily="50" charset="0"/>
              </a:rPr>
              <a:t>Bem  Vindos</a:t>
            </a:r>
          </a:p>
        </p:txBody>
      </p:sp>
    </p:spTree>
    <p:extLst>
      <p:ext uri="{BB962C8B-B14F-4D97-AF65-F5344CB8AC3E}">
        <p14:creationId xmlns:p14="http://schemas.microsoft.com/office/powerpoint/2010/main" val="1292522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00772" y="392129"/>
            <a:ext cx="343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pt-BR" sz="2800" dirty="0">
                <a:solidFill>
                  <a:srgbClr val="369FC2"/>
                </a:solidFill>
                <a:latin typeface="Gotham HTF Light"/>
              </a:rPr>
              <a:t>SANDRO FERRAZ</a:t>
            </a:r>
            <a:endParaRPr lang="en-US" sz="4400" cap="all" dirty="0">
              <a:solidFill>
                <a:srgbClr val="369FC2"/>
              </a:solidFill>
              <a:latin typeface="Gotham HTF Ligh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5400" y="1124744"/>
            <a:ext cx="6192688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369FC2"/>
                </a:solidFill>
                <a:latin typeface="Gotham HTF Light"/>
              </a:rPr>
              <a:t>Doutor em Engenharia Biomédica (Unicamp);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369FC2"/>
              </a:solidFill>
              <a:latin typeface="Gotham HTF Light"/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369FC2"/>
                </a:solidFill>
                <a:latin typeface="Gotham HTF Light"/>
              </a:rPr>
              <a:t>Mestre em Engenharia de Automação e Controle (Unicamp) ;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369FC2"/>
              </a:solidFill>
              <a:latin typeface="Gotham HTF Light"/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369FC2"/>
                </a:solidFill>
                <a:latin typeface="Gotham HTF Light"/>
              </a:rPr>
              <a:t>Leciona há 20 anos na Graduação e Pós-Graduação;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369FC2"/>
              </a:solidFill>
              <a:latin typeface="Gotham HTF Light"/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369FC2"/>
                </a:solidFill>
                <a:latin typeface="Gotham HTF Light"/>
              </a:rPr>
              <a:t>Atua há 25 anos na área de Robótica;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369FC2"/>
              </a:solidFill>
              <a:latin typeface="Gotham HTF Light"/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369FC2"/>
                </a:solidFill>
                <a:latin typeface="Gotham HTF Light"/>
              </a:rPr>
              <a:t>Consultor e desenvolvedor de tecnologia em  robótica e de </a:t>
            </a:r>
            <a:r>
              <a:rPr lang="pt-BR" sz="1400" dirty="0" err="1">
                <a:solidFill>
                  <a:srgbClr val="369FC2"/>
                </a:solidFill>
                <a:latin typeface="Gotham HTF Light"/>
              </a:rPr>
              <a:t>VANTs</a:t>
            </a:r>
            <a:r>
              <a:rPr lang="pt-BR" sz="1400" dirty="0">
                <a:solidFill>
                  <a:srgbClr val="369FC2"/>
                </a:solidFill>
                <a:latin typeface="Gotham HTF Light"/>
              </a:rPr>
              <a:t>  (Drones) ;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369FC2"/>
              </a:solidFill>
              <a:latin typeface="Gotham HTF Light"/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369FC2"/>
                </a:solidFill>
                <a:latin typeface="Gotham HTF Light"/>
              </a:rPr>
              <a:t>Empreendedor;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369FC2"/>
              </a:solidFill>
              <a:latin typeface="Gotham HTF Light"/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rgbClr val="369FC2"/>
                </a:solidFill>
                <a:latin typeface="Gotham HTF Light"/>
              </a:rPr>
              <a:t>Maker</a:t>
            </a:r>
            <a:r>
              <a:rPr lang="pt-BR" sz="1400" dirty="0">
                <a:solidFill>
                  <a:srgbClr val="369FC2"/>
                </a:solidFill>
                <a:latin typeface="Gotham HTF Light"/>
              </a:rPr>
              <a:t>;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369FC2"/>
              </a:solidFill>
              <a:latin typeface="Gotham HTF Light"/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369FC2"/>
                </a:solidFill>
                <a:latin typeface="Gotham HTF Light"/>
              </a:rPr>
              <a:t>Desenvolvedor de produtos e projetos em 3D;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369FC2"/>
              </a:solidFill>
              <a:latin typeface="Gotham HTF Light"/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369FC2"/>
                </a:solidFill>
                <a:latin typeface="Gotham HTF Light"/>
              </a:rPr>
              <a:t>Desenvolveu ambiente de EAD (UNICAMP e UNIFIEO);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369FC2"/>
              </a:solidFill>
              <a:latin typeface="Gotham HTF Light"/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369FC2"/>
                </a:solidFill>
                <a:latin typeface="Gotham HTF Light"/>
              </a:rPr>
              <a:t>Coordenador de Projetos de robótica (FIAP). 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369FC2"/>
              </a:solidFill>
              <a:latin typeface="Gotham HTF Light"/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369FC2"/>
                </a:solidFill>
                <a:latin typeface="Gotham HTF Light"/>
              </a:rPr>
              <a:t>Publicações científicas: + 50.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 l="10953"/>
          <a:stretch/>
        </p:blipFill>
        <p:spPr>
          <a:xfrm>
            <a:off x="7611850" y="0"/>
            <a:ext cx="458015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76B0C31-0C1E-24CD-C3AD-8B7D6BBE72EB}"/>
              </a:ext>
            </a:extLst>
          </p:cNvPr>
          <p:cNvSpPr txBox="1"/>
          <p:nvPr/>
        </p:nvSpPr>
        <p:spPr>
          <a:xfrm>
            <a:off x="1387752" y="5923647"/>
            <a:ext cx="254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FF00"/>
                </a:solidFill>
              </a:rPr>
              <a:t>profsandro@fiap.com.br</a:t>
            </a:r>
            <a:endParaRPr lang="pt-BR" sz="2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462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00772" y="392129"/>
            <a:ext cx="11011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pt-BR" sz="2800" dirty="0">
                <a:solidFill>
                  <a:srgbClr val="369FC2"/>
                </a:solidFill>
                <a:latin typeface="Gotham HTF Light"/>
              </a:rPr>
              <a:t>SANDRO FERRAZ – Desenvolvimento e montagem da </a:t>
            </a:r>
            <a:r>
              <a:rPr lang="pt-BR" sz="2800" dirty="0" err="1">
                <a:solidFill>
                  <a:srgbClr val="369FC2"/>
                </a:solidFill>
                <a:latin typeface="Gotham HTF Light"/>
              </a:rPr>
              <a:t>Router</a:t>
            </a:r>
            <a:r>
              <a:rPr lang="pt-BR" sz="2800" dirty="0">
                <a:solidFill>
                  <a:srgbClr val="369FC2"/>
                </a:solidFill>
                <a:latin typeface="Gotham HTF Light"/>
              </a:rPr>
              <a:t> CNC</a:t>
            </a:r>
            <a:endParaRPr lang="en-US" sz="4400" cap="all" dirty="0">
              <a:solidFill>
                <a:srgbClr val="369FC2"/>
              </a:solidFill>
              <a:latin typeface="Gotham HTF Light"/>
            </a:endParaRPr>
          </a:p>
        </p:txBody>
      </p:sp>
      <p:pic>
        <p:nvPicPr>
          <p:cNvPr id="7" name="Imagem 7">
            <a:extLst>
              <a:ext uri="{FF2B5EF4-FFF2-40B4-BE49-F238E27FC236}">
                <a16:creationId xmlns:a16="http://schemas.microsoft.com/office/drawing/2014/main" id="{9C87B0FC-2F13-FD14-CC4E-30D519CE5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36" t="5013" r="18506" b="8727"/>
          <a:stretch>
            <a:fillRect/>
          </a:stretch>
        </p:blipFill>
        <p:spPr bwMode="auto">
          <a:xfrm>
            <a:off x="724411" y="1417562"/>
            <a:ext cx="3012811" cy="4756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9">
            <a:extLst>
              <a:ext uri="{FF2B5EF4-FFF2-40B4-BE49-F238E27FC236}">
                <a16:creationId xmlns:a16="http://schemas.microsoft.com/office/drawing/2014/main" id="{4E0B0AA0-FA3B-751E-5690-B6A9FEC47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454"/>
          <a:stretch>
            <a:fillRect/>
          </a:stretch>
        </p:blipFill>
        <p:spPr bwMode="auto">
          <a:xfrm>
            <a:off x="4021371" y="3869499"/>
            <a:ext cx="2639125" cy="228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m 15">
            <a:extLst>
              <a:ext uri="{FF2B5EF4-FFF2-40B4-BE49-F238E27FC236}">
                <a16:creationId xmlns:a16="http://schemas.microsoft.com/office/drawing/2014/main" id="{57D7626E-F9A6-2CDE-A54A-B78105A73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916"/>
          <a:stretch>
            <a:fillRect/>
          </a:stretch>
        </p:blipFill>
        <p:spPr bwMode="auto">
          <a:xfrm>
            <a:off x="4025119" y="1433247"/>
            <a:ext cx="2635377" cy="2016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m 26">
            <a:extLst>
              <a:ext uri="{FF2B5EF4-FFF2-40B4-BE49-F238E27FC236}">
                <a16:creationId xmlns:a16="http://schemas.microsoft.com/office/drawing/2014/main" id="{67602E6D-0A1D-F2D1-C4E8-ABB7C08E1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4" t="27951" r="9453" b="6950"/>
          <a:stretch>
            <a:fillRect/>
          </a:stretch>
        </p:blipFill>
        <p:spPr bwMode="auto">
          <a:xfrm>
            <a:off x="6975179" y="1412776"/>
            <a:ext cx="4604403" cy="4744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78753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01AD209-EBB3-4E59-9795-EB0B5E306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" y="132"/>
            <a:ext cx="12187091" cy="685773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A1AF9C19-D45C-4078-87CF-7DAAE9F080C1}"/>
              </a:ext>
            </a:extLst>
          </p:cNvPr>
          <p:cNvSpPr txBox="1"/>
          <p:nvPr/>
        </p:nvSpPr>
        <p:spPr>
          <a:xfrm>
            <a:off x="6384032" y="4293096"/>
            <a:ext cx="47800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Gotham-Book"/>
                <a:cs typeface="Gotham-Book"/>
              </a:rPr>
              <a:t>ELETRICIDADE E CIRCUITOS DIGITAIS</a:t>
            </a:r>
          </a:p>
        </p:txBody>
      </p:sp>
      <p:sp>
        <p:nvSpPr>
          <p:cNvPr id="8" name="CaixaDeTexto 8">
            <a:extLst>
              <a:ext uri="{FF2B5EF4-FFF2-40B4-BE49-F238E27FC236}">
                <a16:creationId xmlns:a16="http://schemas.microsoft.com/office/drawing/2014/main" id="{620A8008-9E93-4FF5-8A2B-D9C24DE9D860}"/>
              </a:ext>
            </a:extLst>
          </p:cNvPr>
          <p:cNvSpPr txBox="1"/>
          <p:nvPr/>
        </p:nvSpPr>
        <p:spPr>
          <a:xfrm>
            <a:off x="1415480" y="1450668"/>
            <a:ext cx="3888432" cy="1989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800" b="1" kern="1600" cap="all" dirty="0">
                <a:solidFill>
                  <a:srgbClr val="ED135A"/>
                </a:solidFill>
                <a:latin typeface="Gotham HTF Light" charset="0"/>
              </a:rPr>
              <a:t>BACHARELADO EM ENGENHARIA DA COMPUTAÇÃO</a:t>
            </a:r>
          </a:p>
        </p:txBody>
      </p:sp>
    </p:spTree>
    <p:extLst>
      <p:ext uri="{BB962C8B-B14F-4D97-AF65-F5344CB8AC3E}">
        <p14:creationId xmlns:p14="http://schemas.microsoft.com/office/powerpoint/2010/main" val="69403328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 descr="http://imprensa.fiap.com.br/arquivos/2012/09/Coworking-690x19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5878"/>
            <a:ext cx="12192000" cy="2535122"/>
          </a:xfrm>
          <a:prstGeom prst="rect">
            <a:avLst/>
          </a:prstGeom>
          <a:noFill/>
        </p:spPr>
      </p:pic>
      <p:sp>
        <p:nvSpPr>
          <p:cNvPr id="3" name="Título 2"/>
          <p:cNvSpPr txBox="1">
            <a:spLocks/>
          </p:cNvSpPr>
          <p:nvPr/>
        </p:nvSpPr>
        <p:spPr>
          <a:xfrm>
            <a:off x="1509712" y="2047760"/>
            <a:ext cx="9158288" cy="471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 fontScale="82500" lnSpcReduction="20000"/>
          </a:bodyPr>
          <a:lstStyle/>
          <a:p>
            <a:pPr algn="ctr" defTabSz="457200">
              <a:spcBef>
                <a:spcPct val="0"/>
              </a:spcBef>
              <a:defRPr/>
            </a:pPr>
            <a:r>
              <a:rPr lang="en-US" altLang="pt-BR" sz="3600" dirty="0" err="1">
                <a:ea typeface="+mj-ea"/>
                <a:cs typeface="+mj-cs"/>
              </a:rPr>
              <a:t>Conteúdo</a:t>
            </a:r>
            <a:r>
              <a:rPr lang="en-US" altLang="pt-BR" sz="3600" dirty="0">
                <a:ea typeface="+mj-ea"/>
                <a:cs typeface="+mj-cs"/>
              </a:rPr>
              <a:t> </a:t>
            </a:r>
            <a:r>
              <a:rPr lang="en-US" altLang="pt-BR" sz="3600" dirty="0" err="1">
                <a:ea typeface="+mj-ea"/>
                <a:cs typeface="+mj-cs"/>
              </a:rPr>
              <a:t>Programático</a:t>
            </a:r>
            <a:r>
              <a:rPr lang="en-US" altLang="pt-BR" sz="3600" dirty="0">
                <a:ea typeface="+mj-ea"/>
                <a:cs typeface="+mj-cs"/>
              </a:rPr>
              <a:t> – </a:t>
            </a:r>
            <a:r>
              <a:rPr lang="en-US" altLang="pt-BR" sz="3600" dirty="0" err="1">
                <a:ea typeface="+mj-ea"/>
                <a:cs typeface="+mj-cs"/>
              </a:rPr>
              <a:t>Anual</a:t>
            </a:r>
            <a:endParaRPr lang="pt-BR" altLang="pt-BR" sz="3600" dirty="0">
              <a:ea typeface="+mj-ea"/>
              <a:cs typeface="+mj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61125" y="2838415"/>
            <a:ext cx="3824669" cy="349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b="1" dirty="0"/>
              <a:t>I – </a:t>
            </a:r>
            <a:r>
              <a:rPr lang="en-US" sz="1300" b="1" dirty="0" err="1"/>
              <a:t>Eletricidade</a:t>
            </a:r>
            <a:r>
              <a:rPr lang="en-US" sz="1300" b="1" dirty="0"/>
              <a:t> </a:t>
            </a:r>
            <a:r>
              <a:rPr lang="en-US" sz="1300" b="1" dirty="0" err="1"/>
              <a:t>Básica</a:t>
            </a:r>
            <a:r>
              <a:rPr lang="en-US" sz="1300" b="1" dirty="0"/>
              <a:t>:</a:t>
            </a:r>
            <a:endParaRPr lang="pt-BR" sz="1300" dirty="0"/>
          </a:p>
          <a:p>
            <a:r>
              <a:rPr lang="pt-BR" sz="1300" b="1" dirty="0"/>
              <a:t> </a:t>
            </a:r>
            <a:endParaRPr lang="pt-BR" sz="1300" dirty="0"/>
          </a:p>
          <a:p>
            <a:r>
              <a:rPr lang="pt-BR" sz="1300" dirty="0"/>
              <a:t>1.1 </a:t>
            </a:r>
            <a:r>
              <a:rPr lang="en-US" sz="1300" dirty="0"/>
              <a:t>A </a:t>
            </a:r>
            <a:r>
              <a:rPr lang="en-US" sz="1300" dirty="0" err="1"/>
              <a:t>natureza</a:t>
            </a:r>
            <a:r>
              <a:rPr lang="en-US" sz="1300" dirty="0"/>
              <a:t> da </a:t>
            </a:r>
            <a:r>
              <a:rPr lang="en-US" sz="1300" dirty="0" err="1"/>
              <a:t>eletricidade</a:t>
            </a:r>
            <a:r>
              <a:rPr lang="en-US" sz="1300" dirty="0"/>
              <a:t>:</a:t>
            </a:r>
            <a:endParaRPr lang="pt-BR" sz="1300" dirty="0"/>
          </a:p>
          <a:p>
            <a:r>
              <a:rPr lang="en-US" sz="1300" dirty="0"/>
              <a:t>            O </a:t>
            </a:r>
            <a:r>
              <a:rPr lang="en-US" sz="1300" dirty="0" err="1"/>
              <a:t>Átomo</a:t>
            </a:r>
            <a:r>
              <a:rPr lang="en-US" sz="1300" dirty="0"/>
              <a:t>;</a:t>
            </a:r>
            <a:endParaRPr lang="pt-BR" sz="1300" dirty="0"/>
          </a:p>
          <a:p>
            <a:r>
              <a:rPr lang="en-US" sz="1300" dirty="0"/>
              <a:t>            A </a:t>
            </a:r>
            <a:r>
              <a:rPr lang="en-US" sz="1300" dirty="0" err="1"/>
              <a:t>Carga</a:t>
            </a:r>
            <a:r>
              <a:rPr lang="en-US" sz="1300" dirty="0"/>
              <a:t> </a:t>
            </a:r>
            <a:r>
              <a:rPr lang="en-US" sz="1300" dirty="0" err="1"/>
              <a:t>Elétrica</a:t>
            </a:r>
            <a:r>
              <a:rPr lang="en-US" sz="1300" dirty="0"/>
              <a:t>;</a:t>
            </a:r>
            <a:endParaRPr lang="pt-BR" sz="1300" dirty="0"/>
          </a:p>
          <a:p>
            <a:r>
              <a:rPr lang="en-US" sz="1300" dirty="0"/>
              <a:t>            O Campo </a:t>
            </a:r>
            <a:r>
              <a:rPr lang="en-US" sz="1300" dirty="0" err="1"/>
              <a:t>Elétrico</a:t>
            </a:r>
            <a:r>
              <a:rPr lang="en-US" sz="1300" dirty="0"/>
              <a:t>;</a:t>
            </a:r>
            <a:endParaRPr lang="pt-BR" sz="1300" dirty="0"/>
          </a:p>
          <a:p>
            <a:r>
              <a:rPr lang="en-US" sz="1300" dirty="0"/>
              <a:t>             </a:t>
            </a:r>
            <a:r>
              <a:rPr lang="en-US" sz="1300" dirty="0" err="1"/>
              <a:t>Diferença</a:t>
            </a:r>
            <a:r>
              <a:rPr lang="en-US" sz="1300" dirty="0"/>
              <a:t> de </a:t>
            </a:r>
            <a:r>
              <a:rPr lang="en-US" sz="1300" dirty="0" err="1"/>
              <a:t>potencial</a:t>
            </a:r>
            <a:r>
              <a:rPr lang="en-US" sz="1300" dirty="0"/>
              <a:t> </a:t>
            </a:r>
            <a:r>
              <a:rPr lang="en-US" sz="1300" dirty="0" err="1"/>
              <a:t>elétrico</a:t>
            </a:r>
            <a:r>
              <a:rPr lang="en-US" sz="1300" dirty="0"/>
              <a:t>;</a:t>
            </a:r>
          </a:p>
          <a:p>
            <a:r>
              <a:rPr lang="en-US" sz="1300" dirty="0"/>
              <a:t>             A </a:t>
            </a:r>
            <a:r>
              <a:rPr lang="en-US" sz="1300" dirty="0" err="1"/>
              <a:t>corrente</a:t>
            </a:r>
            <a:r>
              <a:rPr lang="en-US" sz="1300" dirty="0"/>
              <a:t> </a:t>
            </a:r>
            <a:r>
              <a:rPr lang="en-US" sz="1300" dirty="0" err="1"/>
              <a:t>elétrica</a:t>
            </a:r>
            <a:r>
              <a:rPr lang="en-US" sz="1300" dirty="0"/>
              <a:t>;</a:t>
            </a:r>
            <a:endParaRPr lang="pt-BR" sz="1300" dirty="0"/>
          </a:p>
          <a:p>
            <a:r>
              <a:rPr lang="en-US" sz="1300" dirty="0"/>
              <a:t>             </a:t>
            </a:r>
            <a:r>
              <a:rPr lang="en-US" sz="1300" dirty="0" err="1"/>
              <a:t>Fontes</a:t>
            </a:r>
            <a:r>
              <a:rPr lang="en-US" sz="1300" dirty="0"/>
              <a:t> de </a:t>
            </a:r>
            <a:r>
              <a:rPr lang="en-US" sz="1300" dirty="0" err="1"/>
              <a:t>eletricidade</a:t>
            </a:r>
            <a:r>
              <a:rPr lang="en-US" sz="1300" dirty="0"/>
              <a:t>.</a:t>
            </a:r>
            <a:endParaRPr lang="pt-BR" sz="1300" dirty="0"/>
          </a:p>
          <a:p>
            <a:r>
              <a:rPr lang="pt-BR" sz="1300" dirty="0"/>
              <a:t> </a:t>
            </a:r>
          </a:p>
          <a:p>
            <a:r>
              <a:rPr lang="en-US" sz="1300" dirty="0"/>
              <a:t>1.2 Lei de Ohm e </a:t>
            </a:r>
            <a:r>
              <a:rPr lang="en-US" sz="1300" dirty="0" err="1"/>
              <a:t>Potência</a:t>
            </a:r>
            <a:r>
              <a:rPr lang="en-US" sz="1300" dirty="0"/>
              <a:t>:</a:t>
            </a:r>
            <a:endParaRPr lang="pt-BR" sz="1300" dirty="0"/>
          </a:p>
          <a:p>
            <a:r>
              <a:rPr lang="en-US" sz="1300" dirty="0"/>
              <a:t>             O </a:t>
            </a:r>
            <a:r>
              <a:rPr lang="en-US" sz="1300" dirty="0" err="1"/>
              <a:t>circuito</a:t>
            </a:r>
            <a:r>
              <a:rPr lang="en-US" sz="1300" dirty="0"/>
              <a:t> </a:t>
            </a:r>
            <a:r>
              <a:rPr lang="en-US" sz="1300" dirty="0" err="1"/>
              <a:t>elétrico</a:t>
            </a:r>
            <a:r>
              <a:rPr lang="en-US" sz="1300" dirty="0"/>
              <a:t>; </a:t>
            </a:r>
          </a:p>
          <a:p>
            <a:r>
              <a:rPr lang="en-US" sz="1300" dirty="0"/>
              <a:t>             </a:t>
            </a:r>
            <a:r>
              <a:rPr lang="en-US" sz="1300" dirty="0" err="1"/>
              <a:t>Resistência</a:t>
            </a:r>
            <a:r>
              <a:rPr lang="en-US" sz="1300" dirty="0"/>
              <a:t>; </a:t>
            </a:r>
          </a:p>
          <a:p>
            <a:r>
              <a:rPr lang="en-US" sz="1300" dirty="0"/>
              <a:t>             </a:t>
            </a:r>
            <a:r>
              <a:rPr lang="en-US" sz="1300" dirty="0" err="1"/>
              <a:t>Resistores</a:t>
            </a:r>
            <a:r>
              <a:rPr lang="en-US" sz="1300" dirty="0"/>
              <a:t>; </a:t>
            </a:r>
          </a:p>
          <a:p>
            <a:r>
              <a:rPr lang="en-US" sz="1300" dirty="0"/>
              <a:t>             </a:t>
            </a:r>
            <a:r>
              <a:rPr lang="en-US" sz="1300" dirty="0" err="1"/>
              <a:t>Potência</a:t>
            </a:r>
            <a:r>
              <a:rPr lang="en-US" sz="1300" dirty="0"/>
              <a:t> </a:t>
            </a:r>
            <a:r>
              <a:rPr lang="en-US" sz="1300" dirty="0" err="1"/>
              <a:t>Elétrica</a:t>
            </a:r>
            <a:r>
              <a:rPr lang="en-US" sz="1300" dirty="0"/>
              <a:t>; </a:t>
            </a:r>
          </a:p>
          <a:p>
            <a:r>
              <a:rPr lang="en-US" sz="1300" dirty="0"/>
              <a:t>             </a:t>
            </a:r>
            <a:r>
              <a:rPr lang="en-US" sz="1300" dirty="0" err="1"/>
              <a:t>Energia</a:t>
            </a:r>
            <a:r>
              <a:rPr lang="en-US" sz="1300" dirty="0"/>
              <a:t> </a:t>
            </a:r>
            <a:r>
              <a:rPr lang="en-US" sz="1300" dirty="0" err="1"/>
              <a:t>Elétrica</a:t>
            </a:r>
            <a:r>
              <a:rPr lang="en-US" sz="1300" dirty="0"/>
              <a:t>.</a:t>
            </a:r>
            <a:endParaRPr lang="pt-BR" sz="1300" dirty="0"/>
          </a:p>
          <a:p>
            <a:endParaRPr lang="pt-BR" sz="1300" dirty="0"/>
          </a:p>
        </p:txBody>
      </p:sp>
      <p:sp>
        <p:nvSpPr>
          <p:cNvPr id="5" name="Rectangle 4"/>
          <p:cNvSpPr/>
          <p:nvPr/>
        </p:nvSpPr>
        <p:spPr>
          <a:xfrm>
            <a:off x="6286959" y="2778589"/>
            <a:ext cx="3548055" cy="3939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1.3  </a:t>
            </a:r>
            <a:r>
              <a:rPr lang="en-US" sz="1400" dirty="0" err="1"/>
              <a:t>Tipos</a:t>
            </a:r>
            <a:r>
              <a:rPr lang="en-US" sz="1400" dirty="0"/>
              <a:t> de </a:t>
            </a:r>
            <a:r>
              <a:rPr lang="en-US" sz="1400" dirty="0" err="1"/>
              <a:t>Sinais</a:t>
            </a:r>
            <a:r>
              <a:rPr lang="en-US" sz="1400" dirty="0"/>
              <a:t>: </a:t>
            </a:r>
            <a:endParaRPr lang="pt-BR" sz="1400" dirty="0"/>
          </a:p>
          <a:p>
            <a:r>
              <a:rPr lang="en-US" sz="1400" dirty="0"/>
              <a:t>             </a:t>
            </a:r>
            <a:r>
              <a:rPr lang="en-US" sz="1400" dirty="0" err="1"/>
              <a:t>Sinais</a:t>
            </a:r>
            <a:r>
              <a:rPr lang="en-US" sz="1400" dirty="0"/>
              <a:t> </a:t>
            </a:r>
            <a:r>
              <a:rPr lang="en-US" sz="1400" dirty="0" err="1"/>
              <a:t>constantes</a:t>
            </a:r>
            <a:r>
              <a:rPr lang="en-US" sz="1400" dirty="0"/>
              <a:t> e </a:t>
            </a:r>
            <a:r>
              <a:rPr lang="en-US" sz="1400" dirty="0" err="1"/>
              <a:t>não-constantes</a:t>
            </a:r>
            <a:r>
              <a:rPr lang="en-US" sz="1400" dirty="0"/>
              <a:t>; </a:t>
            </a:r>
            <a:endParaRPr lang="pt-BR" sz="1400" dirty="0"/>
          </a:p>
          <a:p>
            <a:r>
              <a:rPr lang="en-US" sz="1400" dirty="0"/>
              <a:t>             </a:t>
            </a:r>
            <a:r>
              <a:rPr lang="en-US" sz="1400" dirty="0" err="1"/>
              <a:t>Sinais</a:t>
            </a:r>
            <a:r>
              <a:rPr lang="en-US" sz="1400" dirty="0"/>
              <a:t> </a:t>
            </a:r>
            <a:r>
              <a:rPr lang="en-US" sz="1400" dirty="0" err="1"/>
              <a:t>diretos</a:t>
            </a:r>
            <a:r>
              <a:rPr lang="en-US" sz="1400" dirty="0"/>
              <a:t> e </a:t>
            </a:r>
            <a:r>
              <a:rPr lang="en-US" sz="1400" dirty="0" err="1"/>
              <a:t>alternados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1.4  </a:t>
            </a:r>
            <a:r>
              <a:rPr lang="en-US" sz="1400" dirty="0" err="1"/>
              <a:t>Análise</a:t>
            </a:r>
            <a:r>
              <a:rPr lang="en-US" sz="1400" dirty="0"/>
              <a:t> de </a:t>
            </a:r>
            <a:r>
              <a:rPr lang="en-US" sz="1400" dirty="0" err="1"/>
              <a:t>circuitos</a:t>
            </a:r>
            <a:r>
              <a:rPr lang="en-US" sz="1400" dirty="0"/>
              <a:t> </a:t>
            </a:r>
            <a:r>
              <a:rPr lang="en-US" sz="1400" dirty="0" err="1"/>
              <a:t>resistivos</a:t>
            </a:r>
            <a:r>
              <a:rPr lang="en-US" sz="1400" dirty="0"/>
              <a:t>: </a:t>
            </a:r>
            <a:endParaRPr lang="pt-BR" sz="1400" dirty="0"/>
          </a:p>
          <a:p>
            <a:r>
              <a:rPr lang="en-US" sz="1400" dirty="0"/>
              <a:t>        </a:t>
            </a:r>
            <a:r>
              <a:rPr lang="en-US" sz="1400" dirty="0" err="1"/>
              <a:t>Associação</a:t>
            </a:r>
            <a:r>
              <a:rPr lang="en-US" sz="1400" dirty="0"/>
              <a:t> de </a:t>
            </a:r>
            <a:r>
              <a:rPr lang="en-US" sz="1400" dirty="0" err="1"/>
              <a:t>resistores</a:t>
            </a:r>
            <a:r>
              <a:rPr lang="en-US" sz="1400" dirty="0"/>
              <a:t>; </a:t>
            </a:r>
            <a:endParaRPr lang="pt-BR" sz="1400" dirty="0"/>
          </a:p>
          <a:p>
            <a:r>
              <a:rPr lang="en-US" sz="1400" dirty="0"/>
              <a:t>        Leis de Kirchhoff. </a:t>
            </a:r>
            <a:endParaRPr lang="pt-BR" sz="1400" dirty="0"/>
          </a:p>
          <a:p>
            <a:r>
              <a:rPr lang="pt-BR" sz="1400" dirty="0"/>
              <a:t> </a:t>
            </a:r>
          </a:p>
          <a:p>
            <a:r>
              <a:rPr lang="en-US" sz="1400" b="1" dirty="0"/>
              <a:t>II - </a:t>
            </a:r>
            <a:r>
              <a:rPr lang="en-US" sz="1400" b="1" dirty="0" err="1"/>
              <a:t>Capacitores</a:t>
            </a:r>
            <a:r>
              <a:rPr lang="en-US" sz="1400" b="1" dirty="0"/>
              <a:t>: </a:t>
            </a:r>
            <a:endParaRPr lang="pt-BR" sz="1400" dirty="0"/>
          </a:p>
          <a:p>
            <a:endParaRPr lang="en-US" sz="1400" dirty="0"/>
          </a:p>
          <a:p>
            <a:r>
              <a:rPr lang="en-US" sz="1400" dirty="0"/>
              <a:t>2.1  </a:t>
            </a:r>
            <a:r>
              <a:rPr lang="en-US" sz="1400" dirty="0" err="1"/>
              <a:t>Introdução</a:t>
            </a:r>
            <a:r>
              <a:rPr lang="en-US" sz="1400" dirty="0"/>
              <a:t>; </a:t>
            </a:r>
            <a:endParaRPr lang="pt-BR" sz="1400" dirty="0"/>
          </a:p>
          <a:p>
            <a:r>
              <a:rPr lang="en-US" sz="1400" dirty="0"/>
              <a:t>2.2  Campo </a:t>
            </a:r>
            <a:r>
              <a:rPr lang="en-US" sz="1400" dirty="0" err="1"/>
              <a:t>elétrico</a:t>
            </a:r>
            <a:r>
              <a:rPr lang="en-US" sz="1400" dirty="0"/>
              <a:t>; </a:t>
            </a:r>
            <a:endParaRPr lang="pt-BR" sz="1400" dirty="0"/>
          </a:p>
          <a:p>
            <a:r>
              <a:rPr lang="en-US" sz="1400" dirty="0"/>
              <a:t>2.3  </a:t>
            </a:r>
            <a:r>
              <a:rPr lang="en-US" sz="1400" dirty="0" err="1"/>
              <a:t>Capacitância</a:t>
            </a:r>
            <a:r>
              <a:rPr lang="en-US" sz="1400" dirty="0"/>
              <a:t>;</a:t>
            </a:r>
            <a:endParaRPr lang="pt-BR" sz="1400" dirty="0"/>
          </a:p>
          <a:p>
            <a:r>
              <a:rPr lang="en-US" sz="1400" dirty="0"/>
              <a:t>2.4  </a:t>
            </a:r>
            <a:r>
              <a:rPr lang="en-US" sz="1400" dirty="0" err="1"/>
              <a:t>Tipos</a:t>
            </a:r>
            <a:r>
              <a:rPr lang="en-US" sz="1400" dirty="0"/>
              <a:t> de capacitors;</a:t>
            </a:r>
            <a:endParaRPr lang="pt-BR" sz="1400" dirty="0"/>
          </a:p>
          <a:p>
            <a:r>
              <a:rPr lang="en-US" sz="1400" dirty="0"/>
              <a:t>2.5  </a:t>
            </a:r>
            <a:r>
              <a:rPr lang="en-US" sz="1400" dirty="0" err="1"/>
              <a:t>Análise</a:t>
            </a:r>
            <a:r>
              <a:rPr lang="en-US" sz="1400" dirty="0"/>
              <a:t> de </a:t>
            </a:r>
            <a:r>
              <a:rPr lang="en-US" sz="1400" dirty="0" err="1"/>
              <a:t>circuitos</a:t>
            </a:r>
            <a:r>
              <a:rPr lang="en-US" sz="1400" dirty="0"/>
              <a:t> </a:t>
            </a:r>
            <a:r>
              <a:rPr lang="en-US" sz="1400" dirty="0" err="1"/>
              <a:t>capacitivos</a:t>
            </a:r>
            <a:r>
              <a:rPr lang="en-US" sz="1400" dirty="0"/>
              <a:t>: </a:t>
            </a:r>
            <a:endParaRPr lang="pt-BR" sz="1400" dirty="0"/>
          </a:p>
          <a:p>
            <a:r>
              <a:rPr lang="pt-BR" sz="1400" dirty="0"/>
              <a:t>2.6  </a:t>
            </a:r>
            <a:r>
              <a:rPr lang="en-US" sz="1400" dirty="0" err="1"/>
              <a:t>Associação</a:t>
            </a:r>
            <a:r>
              <a:rPr lang="en-US" sz="1400" dirty="0"/>
              <a:t> de </a:t>
            </a:r>
            <a:r>
              <a:rPr lang="en-US" sz="1400" dirty="0" err="1"/>
              <a:t>capacitores</a:t>
            </a:r>
            <a:r>
              <a:rPr lang="en-US" sz="1400" dirty="0"/>
              <a:t>; </a:t>
            </a:r>
            <a:endParaRPr lang="pt-BR" sz="1400" dirty="0"/>
          </a:p>
          <a:p>
            <a:r>
              <a:rPr lang="en-US" sz="1300" dirty="0"/>
              <a:t> </a:t>
            </a:r>
            <a:endParaRPr lang="pt-BR" sz="1300" dirty="0"/>
          </a:p>
          <a:p>
            <a:r>
              <a:rPr lang="en-US" sz="1300" dirty="0"/>
              <a:t> </a:t>
            </a:r>
            <a:endParaRPr lang="pt-BR" sz="1300" dirty="0"/>
          </a:p>
        </p:txBody>
      </p:sp>
    </p:spTree>
    <p:extLst>
      <p:ext uri="{BB962C8B-B14F-4D97-AF65-F5344CB8AC3E}">
        <p14:creationId xmlns:p14="http://schemas.microsoft.com/office/powerpoint/2010/main" val="2004295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 descr="http://imprensa.fiap.com.br/arquivos/2012/09/Coworking-690x19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5878"/>
            <a:ext cx="12192000" cy="2535122"/>
          </a:xfrm>
          <a:prstGeom prst="rect">
            <a:avLst/>
          </a:prstGeom>
          <a:noFill/>
        </p:spPr>
      </p:pic>
      <p:sp>
        <p:nvSpPr>
          <p:cNvPr id="3" name="Título 2"/>
          <p:cNvSpPr txBox="1">
            <a:spLocks/>
          </p:cNvSpPr>
          <p:nvPr/>
        </p:nvSpPr>
        <p:spPr>
          <a:xfrm>
            <a:off x="0" y="2047760"/>
            <a:ext cx="12192000" cy="471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 fontScale="82500" lnSpcReduction="20000"/>
          </a:bodyPr>
          <a:lstStyle/>
          <a:p>
            <a:pPr algn="ctr" defTabSz="457200">
              <a:spcBef>
                <a:spcPct val="0"/>
              </a:spcBef>
              <a:defRPr/>
            </a:pPr>
            <a:r>
              <a:rPr lang="en-US" altLang="pt-BR" sz="3600" dirty="0" err="1">
                <a:ea typeface="+mj-ea"/>
                <a:cs typeface="+mj-cs"/>
              </a:rPr>
              <a:t>Conteúdo</a:t>
            </a:r>
            <a:r>
              <a:rPr lang="en-US" altLang="pt-BR" sz="3600" dirty="0">
                <a:ea typeface="+mj-ea"/>
                <a:cs typeface="+mj-cs"/>
              </a:rPr>
              <a:t> </a:t>
            </a:r>
            <a:r>
              <a:rPr lang="en-US" altLang="pt-BR" sz="3600" dirty="0" err="1">
                <a:ea typeface="+mj-ea"/>
                <a:cs typeface="+mj-cs"/>
              </a:rPr>
              <a:t>Programático</a:t>
            </a:r>
            <a:r>
              <a:rPr lang="en-US" altLang="pt-BR" sz="3600" dirty="0">
                <a:ea typeface="+mj-ea"/>
                <a:cs typeface="+mj-cs"/>
              </a:rPr>
              <a:t> – </a:t>
            </a:r>
            <a:r>
              <a:rPr lang="en-US" altLang="pt-BR" sz="3600" dirty="0" err="1">
                <a:ea typeface="+mj-ea"/>
                <a:cs typeface="+mj-cs"/>
              </a:rPr>
              <a:t>Anual</a:t>
            </a:r>
            <a:endParaRPr lang="pt-BR" altLang="pt-BR" sz="3600" dirty="0">
              <a:ea typeface="+mj-ea"/>
              <a:cs typeface="+mj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73697" y="2666476"/>
            <a:ext cx="4572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/>
              <a:t>III - </a:t>
            </a:r>
            <a:r>
              <a:rPr lang="en-US" sz="1400" b="1" dirty="0" err="1"/>
              <a:t>Introdução</a:t>
            </a:r>
            <a:r>
              <a:rPr lang="en-US" sz="1400" b="1" dirty="0"/>
              <a:t> </a:t>
            </a:r>
            <a:r>
              <a:rPr lang="en-US" sz="1400" b="1" dirty="0" err="1"/>
              <a:t>aos</a:t>
            </a:r>
            <a:r>
              <a:rPr lang="en-US" sz="1400" b="1" dirty="0"/>
              <a:t> </a:t>
            </a:r>
            <a:r>
              <a:rPr lang="en-US" sz="1400" b="1" dirty="0" err="1"/>
              <a:t>circuitos</a:t>
            </a:r>
            <a:r>
              <a:rPr lang="en-US" sz="1400" b="1" dirty="0"/>
              <a:t> </a:t>
            </a:r>
            <a:r>
              <a:rPr lang="en-US" sz="1400" b="1" dirty="0" err="1"/>
              <a:t>magnéticos</a:t>
            </a:r>
            <a:r>
              <a:rPr lang="en-US" sz="1400" b="1" dirty="0"/>
              <a:t>: </a:t>
            </a:r>
            <a:endParaRPr lang="pt-BR" sz="1400" dirty="0"/>
          </a:p>
          <a:p>
            <a:endParaRPr lang="en-US" sz="1400" dirty="0"/>
          </a:p>
          <a:p>
            <a:r>
              <a:rPr lang="en-US" sz="1400" dirty="0"/>
              <a:t>3.1  </a:t>
            </a:r>
            <a:r>
              <a:rPr lang="en-US" sz="1400" dirty="0" err="1"/>
              <a:t>Introdução</a:t>
            </a:r>
            <a:r>
              <a:rPr lang="en-US" sz="1400" dirty="0"/>
              <a:t>;  </a:t>
            </a:r>
          </a:p>
          <a:p>
            <a:r>
              <a:rPr lang="en-US" sz="1400" dirty="0"/>
              <a:t>3.2  Campos </a:t>
            </a:r>
            <a:r>
              <a:rPr lang="en-US" sz="1400" dirty="0" err="1"/>
              <a:t>magnéticos</a:t>
            </a:r>
            <a:r>
              <a:rPr lang="en-US" sz="1400" dirty="0"/>
              <a:t>;  </a:t>
            </a:r>
          </a:p>
          <a:p>
            <a:r>
              <a:rPr lang="en-US" sz="1400" dirty="0"/>
              <a:t>3.3  </a:t>
            </a:r>
            <a:r>
              <a:rPr lang="en-US" sz="1400" dirty="0" err="1"/>
              <a:t>Densidade</a:t>
            </a:r>
            <a:r>
              <a:rPr lang="en-US" sz="1400" dirty="0"/>
              <a:t> de </a:t>
            </a:r>
            <a:r>
              <a:rPr lang="en-US" sz="1400" dirty="0" err="1"/>
              <a:t>fluxo</a:t>
            </a:r>
            <a:r>
              <a:rPr lang="en-US" sz="1400" dirty="0"/>
              <a:t> </a:t>
            </a:r>
            <a:r>
              <a:rPr lang="en-US" sz="1400" dirty="0" err="1"/>
              <a:t>magnético</a:t>
            </a:r>
            <a:r>
              <a:rPr lang="en-US" sz="1400" dirty="0"/>
              <a:t>;  </a:t>
            </a:r>
          </a:p>
          <a:p>
            <a:r>
              <a:rPr lang="en-US" sz="1400" dirty="0"/>
              <a:t>3.4  Lei de Ohm para </a:t>
            </a:r>
            <a:r>
              <a:rPr lang="en-US" sz="1400" dirty="0" err="1"/>
              <a:t>circuitos</a:t>
            </a:r>
            <a:r>
              <a:rPr lang="en-US" sz="1400" dirty="0"/>
              <a:t> </a:t>
            </a:r>
            <a:r>
              <a:rPr lang="en-US" sz="1400" dirty="0" err="1"/>
              <a:t>magnéticos</a:t>
            </a:r>
            <a:r>
              <a:rPr lang="en-US" sz="1400" dirty="0"/>
              <a:t>;  </a:t>
            </a:r>
          </a:p>
          <a:p>
            <a:r>
              <a:rPr lang="en-US" sz="1400" dirty="0"/>
              <a:t>3.3  </a:t>
            </a:r>
            <a:r>
              <a:rPr lang="en-US" sz="1400" dirty="0" err="1"/>
              <a:t>Histerese</a:t>
            </a:r>
            <a:r>
              <a:rPr lang="en-US" sz="1400" dirty="0"/>
              <a:t>;  </a:t>
            </a:r>
          </a:p>
          <a:p>
            <a:r>
              <a:rPr lang="en-US" sz="1400" dirty="0"/>
              <a:t>3.4. </a:t>
            </a:r>
            <a:r>
              <a:rPr lang="en-US" sz="1400" dirty="0" err="1"/>
              <a:t>Análise</a:t>
            </a:r>
            <a:r>
              <a:rPr lang="en-US" sz="1400" dirty="0"/>
              <a:t> de </a:t>
            </a:r>
            <a:r>
              <a:rPr lang="en-US" sz="1400" dirty="0" err="1"/>
              <a:t>circuitos</a:t>
            </a:r>
            <a:r>
              <a:rPr lang="en-US" sz="1400" dirty="0"/>
              <a:t> </a:t>
            </a:r>
            <a:r>
              <a:rPr lang="en-US" sz="1400" dirty="0" err="1"/>
              <a:t>magnéticos</a:t>
            </a:r>
            <a:r>
              <a:rPr lang="en-US" sz="1400" dirty="0"/>
              <a:t>: </a:t>
            </a:r>
            <a:endParaRPr lang="pt-BR" sz="1400" dirty="0"/>
          </a:p>
          <a:p>
            <a:r>
              <a:rPr lang="en-US" sz="1400" dirty="0"/>
              <a:t>       </a:t>
            </a:r>
            <a:r>
              <a:rPr lang="en-US" sz="1400" dirty="0" err="1"/>
              <a:t>Associação</a:t>
            </a:r>
            <a:r>
              <a:rPr lang="en-US" sz="1400" dirty="0"/>
              <a:t> de </a:t>
            </a:r>
            <a:r>
              <a:rPr lang="en-US" sz="1400" dirty="0" err="1"/>
              <a:t>magnéticos</a:t>
            </a:r>
            <a:r>
              <a:rPr lang="en-US" sz="1400" dirty="0"/>
              <a:t>; </a:t>
            </a:r>
          </a:p>
          <a:p>
            <a:endParaRPr lang="en-US" sz="1400" dirty="0"/>
          </a:p>
          <a:p>
            <a:r>
              <a:rPr lang="en-US" sz="1400" b="1" dirty="0"/>
              <a:t>IV - </a:t>
            </a:r>
            <a:r>
              <a:rPr lang="en-US" sz="1400" b="1" dirty="0" err="1"/>
              <a:t>Indutores</a:t>
            </a:r>
            <a:r>
              <a:rPr lang="en-US" sz="1400" b="1" dirty="0"/>
              <a:t>: </a:t>
            </a:r>
            <a:endParaRPr lang="pt-BR" sz="1400" dirty="0"/>
          </a:p>
          <a:p>
            <a:endParaRPr lang="en-US" sz="1400" dirty="0"/>
          </a:p>
          <a:p>
            <a:r>
              <a:rPr lang="en-US" sz="1400" dirty="0"/>
              <a:t>4.1  </a:t>
            </a:r>
            <a:r>
              <a:rPr lang="en-US" sz="1400" dirty="0" err="1"/>
              <a:t>Introdução</a:t>
            </a:r>
            <a:r>
              <a:rPr lang="en-US" sz="1400" dirty="0"/>
              <a:t>;  </a:t>
            </a:r>
          </a:p>
          <a:p>
            <a:r>
              <a:rPr lang="en-US" sz="1400" dirty="0"/>
              <a:t>4.2  Lei de Faraday;</a:t>
            </a:r>
            <a:endParaRPr lang="pt-BR" sz="1400" dirty="0"/>
          </a:p>
          <a:p>
            <a:r>
              <a:rPr lang="en-US" sz="1400" dirty="0"/>
              <a:t>4.3  </a:t>
            </a:r>
            <a:r>
              <a:rPr lang="en-US" sz="1400" dirty="0" err="1"/>
              <a:t>Tipos</a:t>
            </a:r>
            <a:r>
              <a:rPr lang="en-US" sz="1400" dirty="0"/>
              <a:t> de </a:t>
            </a:r>
            <a:r>
              <a:rPr lang="en-US" sz="1400" dirty="0" err="1"/>
              <a:t>indutores</a:t>
            </a:r>
            <a:r>
              <a:rPr lang="en-US" sz="1400" dirty="0"/>
              <a:t>;</a:t>
            </a:r>
            <a:endParaRPr lang="pt-BR" sz="1400" dirty="0"/>
          </a:p>
          <a:p>
            <a:r>
              <a:rPr lang="en-US" sz="1400" dirty="0"/>
              <a:t>4.4  </a:t>
            </a:r>
            <a:r>
              <a:rPr lang="en-US" sz="1400" dirty="0" err="1"/>
              <a:t>Tensão</a:t>
            </a:r>
            <a:r>
              <a:rPr lang="en-US" sz="1400" dirty="0"/>
              <a:t> </a:t>
            </a:r>
            <a:r>
              <a:rPr lang="en-US" sz="1400" dirty="0" err="1"/>
              <a:t>induzida</a:t>
            </a:r>
            <a:r>
              <a:rPr lang="en-US" sz="1400" dirty="0"/>
              <a:t>;</a:t>
            </a:r>
            <a:endParaRPr lang="pt-BR" sz="1400" dirty="0"/>
          </a:p>
          <a:p>
            <a:r>
              <a:rPr lang="en-US" sz="1400" dirty="0"/>
              <a:t>4.5  </a:t>
            </a:r>
            <a:r>
              <a:rPr lang="en-US" sz="1400" dirty="0" err="1"/>
              <a:t>Análise</a:t>
            </a:r>
            <a:r>
              <a:rPr lang="en-US" sz="1400" dirty="0"/>
              <a:t> de </a:t>
            </a:r>
            <a:r>
              <a:rPr lang="en-US" sz="1400" dirty="0" err="1"/>
              <a:t>Circuitos</a:t>
            </a:r>
            <a:r>
              <a:rPr lang="en-US" sz="1400" dirty="0"/>
              <a:t> R-L e R-L-C;</a:t>
            </a:r>
            <a:endParaRPr lang="pt-BR" sz="1400" dirty="0"/>
          </a:p>
          <a:p>
            <a:r>
              <a:rPr lang="pt-BR" sz="1400" dirty="0"/>
              <a:t> </a:t>
            </a:r>
          </a:p>
        </p:txBody>
      </p:sp>
      <p:sp>
        <p:nvSpPr>
          <p:cNvPr id="4" name="Rectangle 3"/>
          <p:cNvSpPr/>
          <p:nvPr/>
        </p:nvSpPr>
        <p:spPr>
          <a:xfrm>
            <a:off x="6114917" y="2694694"/>
            <a:ext cx="4572000" cy="58477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/>
              <a:t>V - </a:t>
            </a:r>
            <a:r>
              <a:rPr lang="pt-BR" sz="1400" b="1" dirty="0"/>
              <a:t>Projeto</a:t>
            </a:r>
            <a:endParaRPr lang="pt-BR" sz="14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8061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"/>
            <a:ext cx="12192000" cy="2957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ítulo 2"/>
          <p:cNvSpPr txBox="1">
            <a:spLocks/>
          </p:cNvSpPr>
          <p:nvPr/>
        </p:nvSpPr>
        <p:spPr>
          <a:xfrm>
            <a:off x="0" y="2485531"/>
            <a:ext cx="12192000" cy="471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 fontScale="82500" lnSpcReduction="20000"/>
          </a:bodyPr>
          <a:lstStyle/>
          <a:p>
            <a:pPr algn="ctr" defTabSz="457200">
              <a:spcBef>
                <a:spcPct val="0"/>
              </a:spcBef>
              <a:defRPr/>
            </a:pPr>
            <a:r>
              <a:rPr lang="en-US" altLang="pt-BR" sz="3600" dirty="0" err="1">
                <a:ea typeface="+mj-ea"/>
                <a:cs typeface="+mj-cs"/>
              </a:rPr>
              <a:t>Referências</a:t>
            </a:r>
            <a:r>
              <a:rPr lang="en-US" altLang="pt-BR" sz="3600" dirty="0">
                <a:ea typeface="+mj-ea"/>
                <a:cs typeface="+mj-cs"/>
              </a:rPr>
              <a:t> </a:t>
            </a:r>
            <a:r>
              <a:rPr lang="en-US" altLang="pt-BR" sz="3600" dirty="0" err="1">
                <a:ea typeface="+mj-ea"/>
                <a:cs typeface="+mj-cs"/>
              </a:rPr>
              <a:t>Bilbliográficas</a:t>
            </a:r>
            <a:endParaRPr lang="pt-BR" altLang="pt-BR" sz="3600" dirty="0">
              <a:ea typeface="+mj-ea"/>
              <a:cs typeface="+mj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634439" y="3191495"/>
            <a:ext cx="9047850" cy="3231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latin typeface="Arial"/>
                <a:cs typeface="Arial"/>
              </a:rPr>
              <a:t>BÁSICA</a:t>
            </a:r>
            <a:br>
              <a:rPr lang="en-US" sz="1200" b="1" dirty="0">
                <a:latin typeface="Arial"/>
                <a:cs typeface="Arial"/>
              </a:rPr>
            </a:br>
            <a:endParaRPr lang="en-US" sz="1200" dirty="0">
              <a:latin typeface="Arial"/>
              <a:cs typeface="Arial"/>
            </a:endParaRPr>
          </a:p>
          <a:p>
            <a:r>
              <a:rPr lang="en-US" sz="1200" dirty="0"/>
              <a:t>BOYLESTAD, R. </a:t>
            </a:r>
            <a:r>
              <a:rPr lang="en-US" sz="1200" dirty="0" err="1"/>
              <a:t>Introdução</a:t>
            </a:r>
            <a:r>
              <a:rPr lang="en-US" sz="1200" dirty="0"/>
              <a:t> a </a:t>
            </a:r>
            <a:r>
              <a:rPr lang="en-US" sz="1200" dirty="0" err="1"/>
              <a:t>Análise</a:t>
            </a:r>
            <a:r>
              <a:rPr lang="en-US" sz="1200" dirty="0"/>
              <a:t> de </a:t>
            </a:r>
            <a:r>
              <a:rPr lang="en-US" sz="1200" dirty="0" err="1"/>
              <a:t>Circuitos</a:t>
            </a:r>
            <a:r>
              <a:rPr lang="en-US" sz="1200" dirty="0"/>
              <a:t>, 12. Ed. São Paulo: Prentice Hall, 2011.</a:t>
            </a:r>
          </a:p>
          <a:p>
            <a:endParaRPr lang="en-US" sz="1200" dirty="0"/>
          </a:p>
          <a:p>
            <a:r>
              <a:rPr lang="en-US" sz="1200" dirty="0"/>
              <a:t>EDMINSTER, J., NAHVI, M. </a:t>
            </a:r>
            <a:r>
              <a:rPr lang="en-US" sz="1200" dirty="0" err="1"/>
              <a:t>Teoria</a:t>
            </a:r>
            <a:r>
              <a:rPr lang="en-US" sz="1200" dirty="0"/>
              <a:t> e </a:t>
            </a:r>
            <a:r>
              <a:rPr lang="en-US" sz="1200" dirty="0" err="1"/>
              <a:t>Problemas</a:t>
            </a:r>
            <a:r>
              <a:rPr lang="en-US" sz="1200" dirty="0"/>
              <a:t> de </a:t>
            </a:r>
            <a:r>
              <a:rPr lang="en-US" sz="1200" dirty="0" err="1"/>
              <a:t>Circuitos</a:t>
            </a:r>
            <a:r>
              <a:rPr lang="en-US" sz="1200" dirty="0"/>
              <a:t> </a:t>
            </a:r>
            <a:r>
              <a:rPr lang="en-US" sz="1200" dirty="0" err="1"/>
              <a:t>Elétricos</a:t>
            </a:r>
            <a:r>
              <a:rPr lang="en-US" sz="1200" dirty="0"/>
              <a:t>, 4. Ed. Bookman, 2008. </a:t>
            </a:r>
          </a:p>
          <a:p>
            <a:endParaRPr lang="en-US" sz="1200" dirty="0"/>
          </a:p>
          <a:p>
            <a:r>
              <a:rPr lang="en-US" sz="1200" dirty="0"/>
              <a:t>NILSSON, J., RIEDEL, S. </a:t>
            </a:r>
            <a:r>
              <a:rPr lang="en-US" sz="1200" dirty="0" err="1"/>
              <a:t>Circuitos</a:t>
            </a:r>
            <a:r>
              <a:rPr lang="en-US" sz="1200" dirty="0"/>
              <a:t> </a:t>
            </a:r>
            <a:r>
              <a:rPr lang="en-US" sz="1200" dirty="0" err="1"/>
              <a:t>Elétricos</a:t>
            </a:r>
            <a:r>
              <a:rPr lang="en-US" sz="1200" dirty="0"/>
              <a:t>, 10ª. Ed. São Paulo: Prentice Hall, 2016. </a:t>
            </a:r>
            <a:endParaRPr lang="en-US" sz="1200" b="1" dirty="0">
              <a:latin typeface="Arial"/>
              <a:cs typeface="Arial"/>
            </a:endParaRPr>
          </a:p>
          <a:p>
            <a:endParaRPr lang="en-US" sz="1200" b="1" dirty="0">
              <a:latin typeface="Arial"/>
              <a:cs typeface="Arial"/>
            </a:endParaRPr>
          </a:p>
          <a:p>
            <a:r>
              <a:rPr lang="en-US" sz="1200" b="1" dirty="0">
                <a:latin typeface="Arial"/>
                <a:cs typeface="Arial"/>
              </a:rPr>
              <a:t>COMPLEMENTAR</a:t>
            </a:r>
          </a:p>
          <a:p>
            <a:endParaRPr lang="en-US" sz="1200" dirty="0"/>
          </a:p>
          <a:p>
            <a:r>
              <a:rPr lang="en-US" sz="1200" dirty="0"/>
              <a:t>BOYLESTAD, R., NASHELSKY, L., </a:t>
            </a:r>
            <a:r>
              <a:rPr lang="en-US" sz="1200" dirty="0" err="1"/>
              <a:t>Dispositivos</a:t>
            </a:r>
            <a:r>
              <a:rPr lang="en-US" sz="1200" dirty="0"/>
              <a:t> </a:t>
            </a:r>
            <a:r>
              <a:rPr lang="en-US" sz="1200" dirty="0" err="1"/>
              <a:t>Eletrônicos</a:t>
            </a:r>
            <a:r>
              <a:rPr lang="en-US" sz="1200" dirty="0"/>
              <a:t> e </a:t>
            </a:r>
            <a:r>
              <a:rPr lang="en-US" sz="1200" dirty="0" err="1"/>
              <a:t>teoria</a:t>
            </a:r>
            <a:r>
              <a:rPr lang="en-US" sz="1200" dirty="0"/>
              <a:t> de </a:t>
            </a:r>
            <a:r>
              <a:rPr lang="en-US" sz="1200" dirty="0" err="1"/>
              <a:t>circuitos</a:t>
            </a:r>
            <a:r>
              <a:rPr lang="en-US" sz="1200" dirty="0"/>
              <a:t>, 8ª. Ed. São Paulo: Pearson, 2004.</a:t>
            </a:r>
          </a:p>
          <a:p>
            <a:endParaRPr lang="en-US" sz="1200" dirty="0"/>
          </a:p>
          <a:p>
            <a:r>
              <a:rPr lang="en-US" sz="1200" dirty="0"/>
              <a:t>AGUIRRE, L. A., </a:t>
            </a:r>
            <a:r>
              <a:rPr lang="en-US" sz="1200" dirty="0" err="1"/>
              <a:t>Fundamentos</a:t>
            </a:r>
            <a:r>
              <a:rPr lang="en-US" sz="1200" dirty="0"/>
              <a:t> de </a:t>
            </a:r>
            <a:r>
              <a:rPr lang="en-US" sz="1200" dirty="0" err="1"/>
              <a:t>Instrumentação</a:t>
            </a:r>
            <a:r>
              <a:rPr lang="en-US" sz="1200" dirty="0"/>
              <a:t>, Pearson 2013  BURIAN, Y., LYRA, A. C., </a:t>
            </a:r>
            <a:r>
              <a:rPr lang="en-US" sz="1200" dirty="0" err="1"/>
              <a:t>Circuitos</a:t>
            </a:r>
            <a:r>
              <a:rPr lang="en-US" sz="1200" dirty="0"/>
              <a:t> </a:t>
            </a:r>
            <a:r>
              <a:rPr lang="en-US" sz="1200" dirty="0" err="1"/>
              <a:t>Elétricos</a:t>
            </a:r>
            <a:r>
              <a:rPr lang="en-US" sz="1200" dirty="0"/>
              <a:t>, 2006. </a:t>
            </a:r>
          </a:p>
          <a:p>
            <a:endParaRPr lang="en-US" sz="1200" dirty="0"/>
          </a:p>
          <a:p>
            <a:r>
              <a:rPr lang="en-US" sz="1200" dirty="0"/>
              <a:t>GRIFFITHS, D., </a:t>
            </a:r>
            <a:r>
              <a:rPr lang="en-US" sz="1200" dirty="0" err="1"/>
              <a:t>Eletrodinâmica</a:t>
            </a:r>
            <a:r>
              <a:rPr lang="en-US" sz="1200" dirty="0"/>
              <a:t>, 3ª. Ed., Pearson, 2011.</a:t>
            </a:r>
          </a:p>
          <a:p>
            <a:endParaRPr lang="en-US" sz="1200" dirty="0"/>
          </a:p>
          <a:p>
            <a:r>
              <a:rPr lang="en-US" sz="1200" dirty="0"/>
              <a:t>MARIOTTO, P. A., </a:t>
            </a:r>
            <a:r>
              <a:rPr lang="en-US" sz="1200" dirty="0" err="1"/>
              <a:t>Análise</a:t>
            </a:r>
            <a:r>
              <a:rPr lang="en-US" sz="1200" dirty="0"/>
              <a:t> de </a:t>
            </a:r>
            <a:r>
              <a:rPr lang="en-US" sz="1200" dirty="0" err="1"/>
              <a:t>Circuitos</a:t>
            </a:r>
            <a:r>
              <a:rPr lang="en-US" sz="1200" dirty="0"/>
              <a:t> </a:t>
            </a:r>
            <a:r>
              <a:rPr lang="en-US" sz="1200" dirty="0" err="1"/>
              <a:t>Elétricos</a:t>
            </a:r>
            <a:r>
              <a:rPr lang="en-US" sz="1200" dirty="0"/>
              <a:t>, 2003. </a:t>
            </a:r>
            <a:endParaRPr lang="en-US" sz="1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01AD209-EBB3-4E59-9795-EB0B5E3068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528" y="10945"/>
            <a:ext cx="12187091" cy="6857736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E8D22272-077A-4587-A4FC-87048853DBA4}"/>
              </a:ext>
            </a:extLst>
          </p:cNvPr>
          <p:cNvSpPr txBox="1"/>
          <p:nvPr/>
        </p:nvSpPr>
        <p:spPr>
          <a:xfrm>
            <a:off x="7176120" y="1367721"/>
            <a:ext cx="338226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kern="0" cap="all" dirty="0" err="1">
                <a:solidFill>
                  <a:srgbClr val="ED135A"/>
                </a:solidFill>
                <a:latin typeface="Gotham HTF Light"/>
                <a:cs typeface="Gotham HTF Light"/>
              </a:rPr>
              <a:t>metodologia</a:t>
            </a:r>
            <a:endParaRPr lang="pt-BR" sz="2500" kern="0" cap="all" dirty="0">
              <a:solidFill>
                <a:srgbClr val="ED135A"/>
              </a:solidFill>
              <a:latin typeface="Gotham HTF Light"/>
              <a:cs typeface="Gotham HTF Light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346C200-87F4-4B92-B8A2-D2FDFA26E8F5}"/>
              </a:ext>
            </a:extLst>
          </p:cNvPr>
          <p:cNvSpPr/>
          <p:nvPr/>
        </p:nvSpPr>
        <p:spPr>
          <a:xfrm>
            <a:off x="7320136" y="2084951"/>
            <a:ext cx="3382263" cy="349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700" kern="0" spc="70" dirty="0">
                <a:solidFill>
                  <a:schemeClr val="bg1"/>
                </a:solidFill>
                <a:latin typeface="Gotham HTF Light"/>
                <a:cs typeface="Gotham HTF Bold"/>
              </a:rPr>
              <a:t>Aulas com objetivos específicos.</a:t>
            </a:r>
          </a:p>
          <a:p>
            <a:endParaRPr lang="pt-BR" sz="1700" kern="0" spc="70" dirty="0">
              <a:solidFill>
                <a:schemeClr val="bg1"/>
              </a:solidFill>
              <a:latin typeface="Gotham HTF Light"/>
              <a:cs typeface="Gotham HTF Bold"/>
            </a:endParaRPr>
          </a:p>
          <a:p>
            <a:r>
              <a:rPr lang="pt-BR" sz="1700" kern="0" spc="70" dirty="0">
                <a:solidFill>
                  <a:schemeClr val="bg1"/>
                </a:solidFill>
                <a:latin typeface="Gotham HTF Light"/>
                <a:cs typeface="Gotham HTF Bold"/>
              </a:rPr>
              <a:t>Conteúdo proposto associado a sua aplicação no dia-a-dia.</a:t>
            </a:r>
          </a:p>
          <a:p>
            <a:endParaRPr lang="pt-BR" sz="1700" kern="0" spc="70" dirty="0">
              <a:solidFill>
                <a:schemeClr val="bg1"/>
              </a:solidFill>
              <a:latin typeface="Gotham HTF Light"/>
              <a:cs typeface="Gotham HTF Bold"/>
            </a:endParaRPr>
          </a:p>
          <a:p>
            <a:r>
              <a:rPr lang="pt-BR" sz="1700" kern="0" spc="70" dirty="0">
                <a:solidFill>
                  <a:schemeClr val="bg1"/>
                </a:solidFill>
                <a:latin typeface="Gotham HTF Light"/>
                <a:cs typeface="Gotham HTF Bold"/>
              </a:rPr>
              <a:t>Integração entre </a:t>
            </a:r>
          </a:p>
          <a:p>
            <a:r>
              <a:rPr lang="pt-BR" sz="1700" kern="0" spc="70" dirty="0">
                <a:solidFill>
                  <a:schemeClr val="bg1"/>
                </a:solidFill>
                <a:latin typeface="Gotham HTF Light"/>
                <a:cs typeface="Gotham HTF Bold"/>
              </a:rPr>
              <a:t>as disciplinas.</a:t>
            </a:r>
          </a:p>
          <a:p>
            <a:endParaRPr lang="pt-BR" sz="1700" kern="0" spc="70" dirty="0">
              <a:solidFill>
                <a:schemeClr val="bg1"/>
              </a:solidFill>
              <a:latin typeface="Gotham HTF Light"/>
              <a:cs typeface="Gotham HTF Bold"/>
            </a:endParaRPr>
          </a:p>
          <a:p>
            <a:r>
              <a:rPr lang="pt-BR" sz="1700" kern="0" spc="70" dirty="0">
                <a:solidFill>
                  <a:schemeClr val="bg1"/>
                </a:solidFill>
                <a:latin typeface="Gotham HTF Light"/>
                <a:cs typeface="Gotham HTF Bold"/>
              </a:rPr>
              <a:t>Preparação para o mercado de trabalho e aos projetos propostos pela FIAP.</a:t>
            </a:r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E13F8180-5CD8-42D6-B52D-486520782D35}"/>
              </a:ext>
            </a:extLst>
          </p:cNvPr>
          <p:cNvSpPr/>
          <p:nvPr/>
        </p:nvSpPr>
        <p:spPr>
          <a:xfrm>
            <a:off x="7032104" y="2259029"/>
            <a:ext cx="83974" cy="83974"/>
          </a:xfrm>
          <a:prstGeom prst="ellipse">
            <a:avLst/>
          </a:prstGeom>
          <a:solidFill>
            <a:srgbClr val="FF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7666" tIns="43833" rIns="87666" bIns="43833" rtlCol="0" anchor="ctr"/>
          <a:lstStyle/>
          <a:p>
            <a:pPr algn="ctr"/>
            <a:endParaRPr lang="en-US" sz="1662"/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D08D06C0-E99D-44EB-A859-4B4B7F95C39A}"/>
              </a:ext>
            </a:extLst>
          </p:cNvPr>
          <p:cNvSpPr/>
          <p:nvPr/>
        </p:nvSpPr>
        <p:spPr>
          <a:xfrm>
            <a:off x="7067021" y="4259343"/>
            <a:ext cx="83974" cy="83974"/>
          </a:xfrm>
          <a:prstGeom prst="ellipse">
            <a:avLst/>
          </a:prstGeom>
          <a:solidFill>
            <a:srgbClr val="FF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7666" tIns="43833" rIns="87666" bIns="43833" rtlCol="0" anchor="ctr"/>
          <a:lstStyle/>
          <a:p>
            <a:pPr algn="ctr"/>
            <a:endParaRPr lang="en-US" sz="1662"/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F6FA152D-DDEA-44F0-AC30-CF07C753A9E9}"/>
              </a:ext>
            </a:extLst>
          </p:cNvPr>
          <p:cNvSpPr/>
          <p:nvPr/>
        </p:nvSpPr>
        <p:spPr>
          <a:xfrm>
            <a:off x="7032104" y="3501008"/>
            <a:ext cx="83974" cy="83974"/>
          </a:xfrm>
          <a:prstGeom prst="ellipse">
            <a:avLst/>
          </a:prstGeom>
          <a:solidFill>
            <a:srgbClr val="FF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7666" tIns="43833" rIns="87666" bIns="43833" rtlCol="0" anchor="ctr"/>
          <a:lstStyle/>
          <a:p>
            <a:pPr algn="ctr"/>
            <a:endParaRPr lang="en-US" sz="1662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0577E81A-A73F-4A60-BDB6-ABAE1B8C66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5879976" cy="6858000"/>
          </a:xfrm>
          <a:prstGeom prst="rect">
            <a:avLst/>
          </a:prstGeom>
        </p:spPr>
      </p:pic>
      <p:sp>
        <p:nvSpPr>
          <p:cNvPr id="11" name="Oval 7">
            <a:extLst>
              <a:ext uri="{FF2B5EF4-FFF2-40B4-BE49-F238E27FC236}">
                <a16:creationId xmlns:a16="http://schemas.microsoft.com/office/drawing/2014/main" id="{55434052-4E29-48FE-BEA1-7BC0AF3AEA47}"/>
              </a:ext>
            </a:extLst>
          </p:cNvPr>
          <p:cNvSpPr/>
          <p:nvPr/>
        </p:nvSpPr>
        <p:spPr>
          <a:xfrm>
            <a:off x="7032104" y="2773021"/>
            <a:ext cx="83974" cy="83974"/>
          </a:xfrm>
          <a:prstGeom prst="ellipse">
            <a:avLst/>
          </a:prstGeom>
          <a:solidFill>
            <a:srgbClr val="FF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7666" tIns="43833" rIns="87666" bIns="43833" rtlCol="0" anchor="ctr"/>
          <a:lstStyle/>
          <a:p>
            <a:pPr algn="ctr"/>
            <a:endParaRPr lang="en-US" sz="1662"/>
          </a:p>
        </p:txBody>
      </p:sp>
    </p:spTree>
    <p:extLst>
      <p:ext uri="{BB962C8B-B14F-4D97-AF65-F5344CB8AC3E}">
        <p14:creationId xmlns:p14="http://schemas.microsoft.com/office/powerpoint/2010/main" val="21991560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137954" y="1212739"/>
            <a:ext cx="2488351" cy="21802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181" y="3908824"/>
            <a:ext cx="2725336" cy="1801092"/>
          </a:xfrm>
          <a:prstGeom prst="rect">
            <a:avLst/>
          </a:prstGeom>
        </p:spPr>
      </p:pic>
      <p:sp>
        <p:nvSpPr>
          <p:cNvPr id="11" name="CaixaDeTexto 3"/>
          <p:cNvSpPr txBox="1"/>
          <p:nvPr/>
        </p:nvSpPr>
        <p:spPr>
          <a:xfrm>
            <a:off x="2765367" y="2420888"/>
            <a:ext cx="666126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pt-BR" sz="5400" kern="1600" cap="all" dirty="0">
                <a:solidFill>
                  <a:srgbClr val="A2B6C1"/>
                </a:solidFill>
                <a:latin typeface="Gotham HTF Light" pitchFamily="50" charset="0"/>
              </a:rPr>
              <a:t>Bem  Vindos</a:t>
            </a:r>
          </a:p>
          <a:p>
            <a:pPr algn="ctr" defTabSz="457200">
              <a:defRPr/>
            </a:pPr>
            <a:r>
              <a:rPr lang="pt-BR" sz="5400" kern="1600" cap="all" dirty="0">
                <a:solidFill>
                  <a:srgbClr val="A2B6C1"/>
                </a:solidFill>
                <a:latin typeface="Gotham HTF Light" pitchFamily="50" charset="0"/>
              </a:rPr>
              <a:t>Ao </a:t>
            </a:r>
          </a:p>
          <a:p>
            <a:pPr algn="ctr" defTabSz="457200">
              <a:defRPr/>
            </a:pPr>
            <a:r>
              <a:rPr lang="pt-BR" sz="5400" kern="1600" cap="all" dirty="0">
                <a:solidFill>
                  <a:srgbClr val="A2B6C1"/>
                </a:solidFill>
                <a:latin typeface="Gotham HTF Light" pitchFamily="50" charset="0"/>
              </a:rPr>
              <a:t>Futuro</a:t>
            </a:r>
          </a:p>
        </p:txBody>
      </p:sp>
    </p:spTree>
    <p:extLst>
      <p:ext uri="{BB962C8B-B14F-4D97-AF65-F5344CB8AC3E}">
        <p14:creationId xmlns:p14="http://schemas.microsoft.com/office/powerpoint/2010/main" val="152723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" y="132"/>
            <a:ext cx="12187091" cy="6857736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5"/>
          <a:srcRect r="51438"/>
          <a:stretch/>
        </p:blipFill>
        <p:spPr>
          <a:xfrm>
            <a:off x="4619836" y="2924944"/>
            <a:ext cx="2952328" cy="125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42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69851C83A66C54BAF5260C2FE031B75" ma:contentTypeVersion="13" ma:contentTypeDescription="Crie um novo documento." ma:contentTypeScope="" ma:versionID="9b8db59be8b8145cc434785a53847d26">
  <xsd:schema xmlns:xsd="http://www.w3.org/2001/XMLSchema" xmlns:xs="http://www.w3.org/2001/XMLSchema" xmlns:p="http://schemas.microsoft.com/office/2006/metadata/properties" xmlns:ns1="http://schemas.microsoft.com/sharepoint/v3" xmlns:ns3="7b91572d-6f74-4501-97d4-3273d2c077f8" xmlns:ns4="24efde5b-ebe8-43f5-adff-4a84e764f0cd" targetNamespace="http://schemas.microsoft.com/office/2006/metadata/properties" ma:root="true" ma:fieldsID="328d78511ee11fe6b86583d7ba6ae2a1" ns1:_="" ns3:_="" ns4:_="">
    <xsd:import namespace="http://schemas.microsoft.com/sharepoint/v3"/>
    <xsd:import namespace="7b91572d-6f74-4501-97d4-3273d2c077f8"/>
    <xsd:import namespace="24efde5b-ebe8-43f5-adff-4a84e764f0c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1:_ip_UnifiedCompliancePolicyProperties" minOccurs="0"/>
                <xsd:element ref="ns1:_ip_UnifiedCompliancePolicyUIActio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Ação de Interface do Usuário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91572d-6f74-4501-97d4-3273d2c077f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Dica de Compartilhamento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efde5b-ebe8-43f5-adff-4a84e764f0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1EED7177-9E25-421E-81E9-0B992E0F1C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b91572d-6f74-4501-97d4-3273d2c077f8"/>
    <ds:schemaRef ds:uri="24efde5b-ebe8-43f5-adff-4a84e764f0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CC0CC5-D507-4D30-B110-F0B8ADA8212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6F4D8A-3282-48E4-AFF9-190F1C45920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9745</TotalTime>
  <Words>545</Words>
  <Application>Microsoft Office PowerPoint</Application>
  <PresentationFormat>Widescreen</PresentationFormat>
  <Paragraphs>117</Paragraphs>
  <Slides>12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12</vt:i4>
      </vt:variant>
    </vt:vector>
  </HeadingPairs>
  <TitlesOfParts>
    <vt:vector size="21" baseType="lpstr">
      <vt:lpstr>Arial</vt:lpstr>
      <vt:lpstr>Arial Narrow</vt:lpstr>
      <vt:lpstr>Biome</vt:lpstr>
      <vt:lpstr>Calibri</vt:lpstr>
      <vt:lpstr>Gotham HTF Book</vt:lpstr>
      <vt:lpstr>Gotham HTF Light</vt:lpstr>
      <vt:lpstr>Gotham-Book</vt:lpstr>
      <vt:lpstr>Tema do Office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Marcelo Nakagawa</dc:creator>
  <cp:lastModifiedBy>Sandro Ferraz</cp:lastModifiedBy>
  <cp:revision>703</cp:revision>
  <cp:lastPrinted>2015-09-12T11:53:34Z</cp:lastPrinted>
  <dcterms:created xsi:type="dcterms:W3CDTF">2014-08-08T14:56:44Z</dcterms:created>
  <dcterms:modified xsi:type="dcterms:W3CDTF">2023-02-26T21:40:51Z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0x010100369851C83A66C54BAF5260C2FE031B75</vt:lpwstr>
  </property>
</Properties>
</file>